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8E9DA0-B24D-4428-80FE-167BC8274ABD}" v="59" dt="2026-01-26T10:37:00.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4/9/2026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388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4/9/2026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5668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4/9/2026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7782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4/9/2026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323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4/9/2026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313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4/9/2026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4438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4/9/2026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3165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4/9/2026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1127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4/9/2026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33803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4/9/2026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9397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4/9/2026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7958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4/9/2026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51128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03400" y="871758"/>
            <a:ext cx="5227171" cy="3871143"/>
          </a:xfrm>
        </p:spPr>
        <p:txBody>
          <a:bodyPr>
            <a:normAutofit/>
          </a:bodyPr>
          <a:lstStyle/>
          <a:p>
            <a:r>
              <a:rPr lang="en-US" sz="5000"/>
              <a:t>Managerial Communication</a:t>
            </a:r>
          </a:p>
        </p:txBody>
      </p:sp>
      <p:sp>
        <p:nvSpPr>
          <p:cNvPr id="3" name="Subtitle 2"/>
          <p:cNvSpPr>
            <a:spLocks noGrp="1"/>
          </p:cNvSpPr>
          <p:nvPr>
            <p:ph type="subTitle" idx="1"/>
          </p:nvPr>
        </p:nvSpPr>
        <p:spPr>
          <a:xfrm>
            <a:off x="721688" y="4785543"/>
            <a:ext cx="4857857" cy="1005657"/>
          </a:xfrm>
        </p:spPr>
        <p:txBody>
          <a:bodyPr vert="horz" lIns="91440" tIns="45720" rIns="91440" bIns="45720" rtlCol="0">
            <a:normAutofit/>
          </a:bodyPr>
          <a:lstStyle/>
          <a:p>
            <a:r>
              <a:rPr lang="en-US" dirty="0"/>
              <a:t>The five levels of Managerial Communication in a business. </a:t>
            </a:r>
          </a:p>
          <a:p>
            <a:endParaRPr lang="en-US" dirty="0"/>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3D rendering of game pieces tied together with a rope">
            <a:extLst>
              <a:ext uri="{FF2B5EF4-FFF2-40B4-BE49-F238E27FC236}">
                <a16:creationId xmlns:a16="http://schemas.microsoft.com/office/drawing/2014/main" id="{77229A64-6BF1-1488-AB88-21A156906C0B}"/>
              </a:ext>
            </a:extLst>
          </p:cNvPr>
          <p:cNvPicPr>
            <a:picLocks noChangeAspect="1"/>
          </p:cNvPicPr>
          <p:nvPr/>
        </p:nvPicPr>
        <p:blipFill>
          <a:blip r:embed="rId2"/>
          <a:srcRect l="4375" r="33544" b="4"/>
          <a:stretch>
            <a:fillRect/>
          </a:stretch>
        </p:blipFill>
        <p:spPr>
          <a:xfrm>
            <a:off x="6515100" y="10"/>
            <a:ext cx="5676900" cy="685799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ED56A24-9953-28E2-EB25-64AF31EB73F7}"/>
              </a:ext>
            </a:extLst>
          </p:cNvPr>
          <p:cNvSpPr>
            <a:spLocks noGrp="1"/>
          </p:cNvSpPr>
          <p:nvPr>
            <p:ph type="title"/>
          </p:nvPr>
        </p:nvSpPr>
        <p:spPr>
          <a:xfrm>
            <a:off x="954823" y="2109493"/>
            <a:ext cx="4265763" cy="1441776"/>
          </a:xfrm>
        </p:spPr>
        <p:txBody>
          <a:bodyPr anchor="t">
            <a:normAutofit/>
          </a:bodyPr>
          <a:lstStyle/>
          <a:p>
            <a:r>
              <a:rPr lang="en-US" sz="3700" b="1" dirty="0">
                <a:solidFill>
                  <a:schemeClr val="accent1">
                    <a:lumMod val="60000"/>
                    <a:lumOff val="40000"/>
                  </a:schemeClr>
                </a:solidFill>
                <a:latin typeface="Aptos Display"/>
              </a:rPr>
              <a:t>Intra</a:t>
            </a:r>
            <a:r>
              <a:rPr lang="en-US" sz="3700" b="1" dirty="0">
                <a:latin typeface="Aptos Display"/>
              </a:rPr>
              <a:t>personal Communication</a:t>
            </a:r>
            <a:endParaRPr lang="en-US" sz="3700" dirty="0"/>
          </a:p>
        </p:txBody>
      </p:sp>
      <p:sp>
        <p:nvSpPr>
          <p:cNvPr id="3" name="Content Placeholder 2">
            <a:extLst>
              <a:ext uri="{FF2B5EF4-FFF2-40B4-BE49-F238E27FC236}">
                <a16:creationId xmlns:a16="http://schemas.microsoft.com/office/drawing/2014/main" id="{FE4F76C2-BA19-2932-1508-3032AF5F9BE8}"/>
              </a:ext>
            </a:extLst>
          </p:cNvPr>
          <p:cNvSpPr>
            <a:spLocks noGrp="1"/>
          </p:cNvSpPr>
          <p:nvPr>
            <p:ph idx="1"/>
          </p:nvPr>
        </p:nvSpPr>
        <p:spPr>
          <a:xfrm>
            <a:off x="5871353" y="2200490"/>
            <a:ext cx="5269831" cy="3445399"/>
          </a:xfrm>
        </p:spPr>
        <p:txBody>
          <a:bodyPr vert="horz" lIns="91440" tIns="45720" rIns="91440" bIns="45720" rtlCol="0">
            <a:normAutofit/>
          </a:bodyPr>
          <a:lstStyle/>
          <a:p>
            <a:pPr marL="0" indent="0">
              <a:buNone/>
            </a:pPr>
            <a:r>
              <a:rPr lang="en-US">
                <a:latin typeface="Aptos"/>
              </a:rPr>
              <a:t>This is communication with oneself, involving internal cognitive processes like observing, listening, and reading. It forms the foundation for how a manager interacts with others and is critical for internal decision-making and problem-solving. </a:t>
            </a:r>
            <a:endParaRPr lang="en-US" dirty="0"/>
          </a:p>
        </p:txBody>
      </p:sp>
      <p:cxnSp>
        <p:nvCxnSpPr>
          <p:cNvPr id="10" name="Straight Connector 9">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794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CE417-D384-8C21-8F71-35434D0CC5D8}"/>
              </a:ext>
            </a:extLst>
          </p:cNvPr>
          <p:cNvSpPr>
            <a:spLocks noGrp="1"/>
          </p:cNvSpPr>
          <p:nvPr>
            <p:ph type="title"/>
          </p:nvPr>
        </p:nvSpPr>
        <p:spPr>
          <a:xfrm>
            <a:off x="5248656" y="914400"/>
            <a:ext cx="6236208" cy="1307592"/>
          </a:xfrm>
        </p:spPr>
        <p:txBody>
          <a:bodyPr>
            <a:normAutofit/>
          </a:bodyPr>
          <a:lstStyle/>
          <a:p>
            <a:pPr>
              <a:lnSpc>
                <a:spcPct val="90000"/>
              </a:lnSpc>
            </a:pPr>
            <a:r>
              <a:rPr lang="en-US" b="1" dirty="0">
                <a:solidFill>
                  <a:schemeClr val="accent5">
                    <a:lumMod val="76000"/>
                  </a:schemeClr>
                </a:solidFill>
                <a:latin typeface="Aptos Display"/>
              </a:rPr>
              <a:t>Inter</a:t>
            </a:r>
            <a:r>
              <a:rPr lang="en-US" b="1" dirty="0">
                <a:latin typeface="Aptos Display"/>
              </a:rPr>
              <a:t>personal Communication</a:t>
            </a:r>
            <a:endParaRPr lang="en-US" dirty="0"/>
          </a:p>
        </p:txBody>
      </p:sp>
      <p:pic>
        <p:nvPicPr>
          <p:cNvPr id="5" name="Picture 4" descr="Multi-colored dialogue boxes">
            <a:extLst>
              <a:ext uri="{FF2B5EF4-FFF2-40B4-BE49-F238E27FC236}">
                <a16:creationId xmlns:a16="http://schemas.microsoft.com/office/drawing/2014/main" id="{3DAB3AD4-D8C0-17B5-377F-62CAAD314B01}"/>
              </a:ext>
            </a:extLst>
          </p:cNvPr>
          <p:cNvPicPr>
            <a:picLocks noChangeAspect="1"/>
          </p:cNvPicPr>
          <p:nvPr/>
        </p:nvPicPr>
        <p:blipFill>
          <a:blip r:embed="rId2"/>
          <a:srcRect l="21480" r="25761" b="2"/>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0E7D398-DF2E-7278-748D-694CC2172063}"/>
              </a:ext>
            </a:extLst>
          </p:cNvPr>
          <p:cNvSpPr>
            <a:spLocks noGrp="1"/>
          </p:cNvSpPr>
          <p:nvPr>
            <p:ph idx="1"/>
          </p:nvPr>
        </p:nvSpPr>
        <p:spPr>
          <a:xfrm>
            <a:off x="5248656" y="2221992"/>
            <a:ext cx="6236208" cy="3941064"/>
          </a:xfrm>
        </p:spPr>
        <p:txBody>
          <a:bodyPr vert="horz" lIns="91440" tIns="45720" rIns="91440" bIns="45720" rtlCol="0">
            <a:normAutofit/>
          </a:bodyPr>
          <a:lstStyle/>
          <a:p>
            <a:pPr marL="0" indent="0">
              <a:buNone/>
            </a:pPr>
            <a:r>
              <a:rPr lang="en-US">
                <a:latin typeface="Aptos"/>
              </a:rPr>
              <a:t>This occurs when two or more people exchange messages to share information, provide feedback, or maintain relationships. Often called "people skills," it involves verbal, non-verbal, and digital exchanges like emails or instant messaging.</a:t>
            </a:r>
            <a:endParaRPr lang="en-US" dirty="0"/>
          </a:p>
          <a:p>
            <a:endParaRPr lang="en-US" dirty="0"/>
          </a:p>
        </p:txBody>
      </p:sp>
    </p:spTree>
    <p:extLst>
      <p:ext uri="{BB962C8B-B14F-4D97-AF65-F5344CB8AC3E}">
        <p14:creationId xmlns:p14="http://schemas.microsoft.com/office/powerpoint/2010/main" val="4232816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C85BD5-57D3-0803-2C14-E90FDBA2D4C3}"/>
              </a:ext>
            </a:extLst>
          </p:cNvPr>
          <p:cNvSpPr>
            <a:spLocks noGrp="1"/>
          </p:cNvSpPr>
          <p:nvPr>
            <p:ph type="title"/>
          </p:nvPr>
        </p:nvSpPr>
        <p:spPr>
          <a:xfrm>
            <a:off x="704088" y="914400"/>
            <a:ext cx="4041648" cy="1928741"/>
          </a:xfrm>
        </p:spPr>
        <p:txBody>
          <a:bodyPr>
            <a:normAutofit/>
          </a:bodyPr>
          <a:lstStyle/>
          <a:p>
            <a:r>
              <a:rPr lang="en-US" sz="3700" b="1">
                <a:ea typeface="+mj-lt"/>
                <a:cs typeface="+mj-lt"/>
              </a:rPr>
              <a:t>Group Communication</a:t>
            </a:r>
            <a:endParaRPr lang="en-US" sz="3700"/>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Group of People">
            <a:extLst>
              <a:ext uri="{FF2B5EF4-FFF2-40B4-BE49-F238E27FC236}">
                <a16:creationId xmlns:a16="http://schemas.microsoft.com/office/drawing/2014/main" id="{D3E72B99-E5A0-6432-5B20-1051081A6D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1111" y="3046576"/>
            <a:ext cx="2969276" cy="2969276"/>
          </a:xfrm>
          <a:prstGeom prst="rect">
            <a:avLst/>
          </a:prstGeom>
        </p:spPr>
      </p:pic>
      <p:sp>
        <p:nvSpPr>
          <p:cNvPr id="3" name="Content Placeholder 2">
            <a:extLst>
              <a:ext uri="{FF2B5EF4-FFF2-40B4-BE49-F238E27FC236}">
                <a16:creationId xmlns:a16="http://schemas.microsoft.com/office/drawing/2014/main" id="{A51D11B2-F145-0F0B-F820-2B0D990A2305}"/>
              </a:ext>
            </a:extLst>
          </p:cNvPr>
          <p:cNvSpPr>
            <a:spLocks noGrp="1"/>
          </p:cNvSpPr>
          <p:nvPr>
            <p:ph idx="1"/>
          </p:nvPr>
        </p:nvSpPr>
        <p:spPr>
          <a:xfrm>
            <a:off x="5330952" y="968377"/>
            <a:ext cx="6144768" cy="5010912"/>
          </a:xfrm>
        </p:spPr>
        <p:txBody>
          <a:bodyPr vert="horz" lIns="91440" tIns="45720" rIns="91440" bIns="45720" rtlCol="0" anchor="t">
            <a:normAutofit/>
          </a:bodyPr>
          <a:lstStyle/>
          <a:p>
            <a:pPr marL="0" indent="0">
              <a:buNone/>
            </a:pPr>
            <a:r>
              <a:rPr lang="en-US" dirty="0">
                <a:ea typeface="+mn-lt"/>
                <a:cs typeface="+mn-lt"/>
              </a:rPr>
              <a:t>This involves three or more people interacting to achieve a shared goal. Its most common business form is the meeting, where managers coordinate teams and present ideas.</a:t>
            </a:r>
            <a:endParaRPr lang="en-US" dirty="0"/>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261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E9BC93-CFB7-E331-97D4-F7830EF9CB7F}"/>
              </a:ext>
            </a:extLst>
          </p:cNvPr>
          <p:cNvSpPr>
            <a:spLocks noGrp="1"/>
          </p:cNvSpPr>
          <p:nvPr>
            <p:ph type="title"/>
          </p:nvPr>
        </p:nvSpPr>
        <p:spPr>
          <a:xfrm>
            <a:off x="704088" y="914400"/>
            <a:ext cx="6239599" cy="1307590"/>
          </a:xfrm>
        </p:spPr>
        <p:txBody>
          <a:bodyPr>
            <a:normAutofit/>
          </a:bodyPr>
          <a:lstStyle/>
          <a:p>
            <a:pPr>
              <a:lnSpc>
                <a:spcPct val="90000"/>
              </a:lnSpc>
            </a:pPr>
            <a:r>
              <a:rPr lang="en-US" b="1" dirty="0" err="1">
                <a:ea typeface="+mj-lt"/>
                <a:cs typeface="+mj-lt"/>
              </a:rPr>
              <a:t>Organisational</a:t>
            </a:r>
            <a:r>
              <a:rPr lang="en-US" b="1" dirty="0">
                <a:ea typeface="+mj-lt"/>
                <a:cs typeface="+mj-lt"/>
              </a:rPr>
              <a:t> Communication</a:t>
            </a:r>
            <a:endParaRPr lang="en-US">
              <a:ea typeface="+mj-lt"/>
              <a:cs typeface="+mj-lt"/>
            </a:endParaRP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185410F-6F3B-F07E-0112-F4D40C53F7FB}"/>
              </a:ext>
            </a:extLst>
          </p:cNvPr>
          <p:cNvSpPr>
            <a:spLocks noGrp="1"/>
          </p:cNvSpPr>
          <p:nvPr>
            <p:ph idx="1"/>
          </p:nvPr>
        </p:nvSpPr>
        <p:spPr>
          <a:xfrm>
            <a:off x="704088" y="2221992"/>
            <a:ext cx="6239599" cy="3941064"/>
          </a:xfrm>
        </p:spPr>
        <p:txBody>
          <a:bodyPr vert="horz" lIns="91440" tIns="45720" rIns="91440" bIns="45720" rtlCol="0" anchor="t">
            <a:normAutofit/>
          </a:bodyPr>
          <a:lstStyle/>
          <a:p>
            <a:pPr marL="0" indent="0">
              <a:buNone/>
            </a:pPr>
            <a:r>
              <a:rPr lang="en-US" dirty="0">
                <a:ea typeface="+mn-lt"/>
                <a:cs typeface="+mn-lt"/>
              </a:rPr>
              <a:t>This level operates within the internal networks that link a company's members to manage operations and policies. Information flows in four directions: downward (directives), upward (reports), horizontal (peer-to-peer), and diagonal (cross-departmental).</a:t>
            </a:r>
            <a:endParaRPr lang="en-US" dirty="0"/>
          </a:p>
        </p:txBody>
      </p:sp>
      <p:pic>
        <p:nvPicPr>
          <p:cNvPr id="5" name="Picture 4" descr="Top shot of a representation of networks with stick figures.">
            <a:extLst>
              <a:ext uri="{FF2B5EF4-FFF2-40B4-BE49-F238E27FC236}">
                <a16:creationId xmlns:a16="http://schemas.microsoft.com/office/drawing/2014/main" id="{41AA2C0E-54C4-BFC3-FB39-459373420629}"/>
              </a:ext>
            </a:extLst>
          </p:cNvPr>
          <p:cNvPicPr>
            <a:picLocks noChangeAspect="1"/>
          </p:cNvPicPr>
          <p:nvPr/>
        </p:nvPicPr>
        <p:blipFill>
          <a:blip r:embed="rId2"/>
          <a:srcRect l="35632" r="19649" b="9"/>
          <a:stretch>
            <a:fillRect/>
          </a:stretch>
        </p:blipFill>
        <p:spPr>
          <a:xfrm>
            <a:off x="7583424" y="10"/>
            <a:ext cx="4608576" cy="6857990"/>
          </a:xfrm>
          <a:prstGeom prst="rect">
            <a:avLst/>
          </a:prstGeom>
        </p:spPr>
      </p:pic>
    </p:spTree>
    <p:extLst>
      <p:ext uri="{BB962C8B-B14F-4D97-AF65-F5344CB8AC3E}">
        <p14:creationId xmlns:p14="http://schemas.microsoft.com/office/powerpoint/2010/main" val="2422801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0E56FB-F198-5AB4-02F3-1039FC458AE6}"/>
              </a:ext>
            </a:extLst>
          </p:cNvPr>
          <p:cNvSpPr>
            <a:spLocks noGrp="1"/>
          </p:cNvSpPr>
          <p:nvPr>
            <p:ph type="title"/>
          </p:nvPr>
        </p:nvSpPr>
        <p:spPr>
          <a:xfrm>
            <a:off x="5248656" y="914400"/>
            <a:ext cx="6236208" cy="1307592"/>
          </a:xfrm>
        </p:spPr>
        <p:txBody>
          <a:bodyPr>
            <a:normAutofit/>
          </a:bodyPr>
          <a:lstStyle/>
          <a:p>
            <a:pPr>
              <a:lnSpc>
                <a:spcPct val="90000"/>
              </a:lnSpc>
            </a:pPr>
            <a:r>
              <a:rPr lang="en-US" b="1" dirty="0">
                <a:ea typeface="+mj-lt"/>
                <a:cs typeface="+mj-lt"/>
              </a:rPr>
              <a:t>Intercultural Communication</a:t>
            </a:r>
            <a:endParaRPr lang="en-US"/>
          </a:p>
        </p:txBody>
      </p:sp>
      <p:pic>
        <p:nvPicPr>
          <p:cNvPr id="5" name="Picture 4" descr="Colorful carved figures of humans">
            <a:extLst>
              <a:ext uri="{FF2B5EF4-FFF2-40B4-BE49-F238E27FC236}">
                <a16:creationId xmlns:a16="http://schemas.microsoft.com/office/drawing/2014/main" id="{A78EF047-63FC-4D14-EF39-DFA2DF403C1B}"/>
              </a:ext>
            </a:extLst>
          </p:cNvPr>
          <p:cNvPicPr>
            <a:picLocks noChangeAspect="1"/>
          </p:cNvPicPr>
          <p:nvPr/>
        </p:nvPicPr>
        <p:blipFill>
          <a:blip r:embed="rId2"/>
          <a:srcRect l="26182" r="25369" b="-10"/>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2436B9D-96BD-E7C3-7802-90B5B3FF1472}"/>
              </a:ext>
            </a:extLst>
          </p:cNvPr>
          <p:cNvSpPr>
            <a:spLocks noGrp="1"/>
          </p:cNvSpPr>
          <p:nvPr>
            <p:ph idx="1"/>
          </p:nvPr>
        </p:nvSpPr>
        <p:spPr>
          <a:xfrm>
            <a:off x="5248656" y="2221992"/>
            <a:ext cx="6236208" cy="3941064"/>
          </a:xfrm>
        </p:spPr>
        <p:txBody>
          <a:bodyPr vert="horz" lIns="91440" tIns="45720" rIns="91440" bIns="45720" rtlCol="0" anchor="t">
            <a:normAutofit/>
          </a:bodyPr>
          <a:lstStyle/>
          <a:p>
            <a:pPr marL="0" indent="0">
              <a:buNone/>
            </a:pPr>
            <a:r>
              <a:rPr lang="en-US" dirty="0">
                <a:ea typeface="+mn-lt"/>
                <a:cs typeface="+mn-lt"/>
              </a:rPr>
              <a:t>This involves interactions between people from different cultural backgrounds. Because different cultures attribute unique meanings to words and gestures, it requires high cultural awareness and the ability to adjust communication styles to prevent misunderstandings.</a:t>
            </a:r>
            <a:endParaRPr lang="en-US" dirty="0"/>
          </a:p>
        </p:txBody>
      </p:sp>
    </p:spTree>
    <p:extLst>
      <p:ext uri="{BB962C8B-B14F-4D97-AF65-F5344CB8AC3E}">
        <p14:creationId xmlns:p14="http://schemas.microsoft.com/office/powerpoint/2010/main" val="322124020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209</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Bierstadt</vt:lpstr>
      <vt:lpstr>Calisto MT</vt:lpstr>
      <vt:lpstr>Univers Condensed</vt:lpstr>
      <vt:lpstr>ChronicleVTI</vt:lpstr>
      <vt:lpstr>Managerial Communication</vt:lpstr>
      <vt:lpstr>Intrapersonal Communication</vt:lpstr>
      <vt:lpstr>Interpersonal Communication</vt:lpstr>
      <vt:lpstr>Group Communication</vt:lpstr>
      <vt:lpstr>Organisational Communication</vt:lpstr>
      <vt:lpstr>Intercultural Communication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Ashwin Yadav</cp:lastModifiedBy>
  <cp:revision>39</cp:revision>
  <dcterms:created xsi:type="dcterms:W3CDTF">2026-01-26T10:15:39Z</dcterms:created>
  <dcterms:modified xsi:type="dcterms:W3CDTF">2026-04-09T09:54:23Z</dcterms:modified>
</cp:coreProperties>
</file>